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7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0" d="100"/>
          <a:sy n="100" d="100"/>
        </p:scale>
        <p:origin x="14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73563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3A34"/>
          </a:solidFill>
          <a:ln/>
        </p:spPr>
      </p:sp>
      <p:sp>
        <p:nvSpPr>
          <p:cNvPr id="3" name="Shape 1"/>
          <p:cNvSpPr/>
          <p:nvPr/>
        </p:nvSpPr>
        <p:spPr>
          <a:xfrm>
            <a:off x="9326880" y="-1645920"/>
            <a:ext cx="5029200" cy="5029200"/>
          </a:xfrm>
          <a:prstGeom prst="ellipse">
            <a:avLst/>
          </a:prstGeom>
          <a:solidFill>
            <a:srgbClr val="2D6A4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371600" y="4572000"/>
            <a:ext cx="4114800" cy="4114800"/>
          </a:xfrm>
          <a:prstGeom prst="ellipse">
            <a:avLst/>
          </a:prstGeom>
          <a:solidFill>
            <a:srgbClr val="95D5B2">
              <a:alpha val="3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463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95D5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TENSORORBIT · EDA BOOTCAMP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92024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2: NumPy + Matplotlib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822960" y="30632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D8E5DE"/>
                </a:solidFill>
              </a:rPr>
              <a:t>From numbers to insight — the engine under Pandas, and the pictures that make it land.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5943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FC4BB"/>
                </a:solidFill>
              </a:rPr>
              <a:t>22 August 2026  ·  5:30 PM  ·  SCI Lab  ·  Facilitator: Fathima Wazna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D6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CONNECTED JOURNEY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33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today fits in the bigger picture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2468880" cy="2011680"/>
          </a:xfrm>
          <a:prstGeom prst="roundRect">
            <a:avLst>
              <a:gd name="adj" fmla="val 5455"/>
            </a:avLst>
          </a:prstGeom>
          <a:solidFill>
            <a:srgbClr val="F1F5F3"/>
          </a:solidFill>
          <a:ln w="12700">
            <a:solidFill>
              <a:srgbClr val="D8DED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6060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333B"/>
                </a:solidFill>
              </a:rPr>
              <a:t>Day 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3063240"/>
            <a:ext cx="21945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7280"/>
                </a:solidFill>
              </a:rPr>
              <a:t>Pandas — load, clean,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6B7280"/>
                </a:solidFill>
              </a:rPr>
              <a:t>explore the data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108960" y="310896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7280"/>
                </a:solidFill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429000" y="2377440"/>
            <a:ext cx="2468880" cy="2011680"/>
          </a:xfrm>
          <a:prstGeom prst="roundRect">
            <a:avLst>
              <a:gd name="adj" fmla="val 5455"/>
            </a:avLst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29000" y="26060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Day 2 (today)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566160" y="3063240"/>
            <a:ext cx="21945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EAF3EE"/>
                </a:solidFill>
              </a:rPr>
              <a:t>NumPy — the engine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EAF3EE"/>
                </a:solidFill>
              </a:rPr>
              <a:t>underneath. Matplotlib —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EAF3EE"/>
                </a:solidFill>
              </a:rPr>
              <a:t>turn it into pictures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897880" y="310896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7280"/>
                </a:solidFill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217920" y="2377440"/>
            <a:ext cx="2468880" cy="2011680"/>
          </a:xfrm>
          <a:prstGeom prst="roundRect">
            <a:avLst>
              <a:gd name="adj" fmla="val 5455"/>
            </a:avLst>
          </a:prstGeom>
          <a:solidFill>
            <a:srgbClr val="F1F5F3"/>
          </a:solidFill>
          <a:ln w="12700">
            <a:solidFill>
              <a:srgbClr val="D8DED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0" y="26060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333B"/>
                </a:solidFill>
              </a:rPr>
              <a:t>Day 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355080" y="3063240"/>
            <a:ext cx="21945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7280"/>
                </a:solidFill>
              </a:rPr>
              <a:t>Combine everything on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6B7280"/>
                </a:solidFill>
              </a:rPr>
              <a:t>a business dataset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686800" y="310896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7280"/>
                </a:solidFill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9006840" y="2377440"/>
            <a:ext cx="2468880" cy="2011680"/>
          </a:xfrm>
          <a:prstGeom prst="roundRect">
            <a:avLst>
              <a:gd name="adj" fmla="val 5455"/>
            </a:avLst>
          </a:prstGeom>
          <a:solidFill>
            <a:srgbClr val="F1F5F3"/>
          </a:solidFill>
          <a:ln w="12700">
            <a:solidFill>
              <a:srgbClr val="D8DED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006840" y="26060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333B"/>
                </a:solidFill>
              </a:rPr>
              <a:t>Day 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144000" y="3063240"/>
            <a:ext cx="21945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7280"/>
                </a:solidFill>
              </a:rPr>
              <a:t>Present findings +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6B7280"/>
                </a:solidFill>
              </a:rPr>
              <a:t>recommendations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40080" y="48463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</a:rPr>
              <a:t>Say this out loud: Pandas columns are actually NumPy arrays underneath — that's why yesterday's tools were fast.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TensorOrbit EDA Bootcamp · Day 2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61288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D6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CORE IDEA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33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NumPy? Vectorisation, not loops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120640" cy="3840480"/>
          </a:xfrm>
          <a:prstGeom prst="roundRect">
            <a:avLst>
              <a:gd name="adj" fmla="val 2857"/>
            </a:avLst>
          </a:prstGeom>
          <a:solidFill>
            <a:srgbClr val="F1F5F3"/>
          </a:solidFill>
          <a:ln w="12700">
            <a:solidFill>
              <a:srgbClr val="D8DED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9659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B7280"/>
                </a:solidFill>
              </a:rPr>
              <a:t>Plain Python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560320"/>
            <a:ext cx="45720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33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doubled = []
for x in values:
    doubled.append(x * 2)
</a:t>
            </a:r>
            <a:r>
              <a:rPr lang="en-US" sz="1300" i="1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value at a time.</a:t>
            </a:r>
            <a:endParaRPr lang="en-US" sz="1400" dirty="0"/>
          </a:p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Slow at scale.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309360" y="1828800"/>
            <a:ext cx="5212080" cy="3840480"/>
          </a:xfrm>
          <a:prstGeom prst="roundRect">
            <a:avLst>
              <a:gd name="adj" fmla="val 2857"/>
            </a:avLst>
          </a:prstGeom>
          <a:solidFill>
            <a:srgbClr val="2D6A4F"/>
          </a:solidFill>
          <a:ln/>
        </p:spPr>
      </p:sp>
      <p:sp>
        <p:nvSpPr>
          <p:cNvPr id="8" name="Text 6"/>
          <p:cNvSpPr/>
          <p:nvPr/>
        </p:nvSpPr>
        <p:spPr>
          <a:xfrm>
            <a:off x="6309360" y="196596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5D5B2"/>
                </a:solidFill>
              </a:rPr>
              <a:t>NumPy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583680" y="2560320"/>
            <a:ext cx="46634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doubled = values * 2
</a:t>
            </a:r>
            <a:r>
              <a:rPr lang="en-US" sz="1300" i="1" dirty="0">
                <a:solidFill>
                  <a:srgbClr val="EAF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whole array at once.</a:t>
            </a:r>
            <a:endParaRPr lang="en-US" sz="1600" dirty="0"/>
          </a:p>
          <a:p>
            <a:pPr marL="0" indent="0">
              <a:buNone/>
            </a:pPr>
            <a:r>
              <a:rPr lang="en-US" sz="1300" i="1" dirty="0">
                <a:solidFill>
                  <a:srgbClr val="EAF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explicit loop — this is</a:t>
            </a:r>
            <a:endParaRPr lang="en-US" sz="1600" dirty="0"/>
          </a:p>
          <a:p>
            <a:pPr marL="0" indent="0">
              <a:buNone/>
            </a:pPr>
            <a:r>
              <a:rPr lang="en-US" sz="1300" i="1" dirty="0">
                <a:solidFill>
                  <a:srgbClr val="EAF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"vectorisation."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58521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7280"/>
                </a:solidFill>
              </a:rPr>
              <a:t>Ask the class first: "How would YOU double a million numbers in plain Python?" — then reveal the NumPy version.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TensorOrbit EDA Bootcamp · Day 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61288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D6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TODAY'S NUMPY TOOLKIT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33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things NumPy will do for us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2286000"/>
            <a:ext cx="2057400" cy="2377440"/>
          </a:xfrm>
          <a:prstGeom prst="roundRect">
            <a:avLst>
              <a:gd name="adj" fmla="val 4444"/>
            </a:avLst>
          </a:prstGeom>
          <a:solidFill>
            <a:srgbClr val="2D6A4F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4231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95D5B2"/>
                </a:solidFill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3063240"/>
            <a:ext cx="17830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</a:rPr>
              <a:t>Arrays &amp; indexing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31520" y="3794760"/>
            <a:ext cx="17830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8E5DE"/>
                </a:solidFill>
              </a:rPr>
              <a:t>Create, slice, filter (1D)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816352" y="2286000"/>
            <a:ext cx="2057400" cy="2377440"/>
          </a:xfrm>
          <a:prstGeom prst="roundRect">
            <a:avLst>
              <a:gd name="adj" fmla="val 4444"/>
            </a:avLst>
          </a:prstGeom>
          <a:solidFill>
            <a:srgbClr val="1B3A34"/>
          </a:solidFill>
          <a:ln/>
        </p:spPr>
      </p:sp>
      <p:sp>
        <p:nvSpPr>
          <p:cNvPr id="9" name="Text 7"/>
          <p:cNvSpPr/>
          <p:nvPr/>
        </p:nvSpPr>
        <p:spPr>
          <a:xfrm>
            <a:off x="2953512" y="24231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95D5B2"/>
                </a:solidFill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953512" y="3063240"/>
            <a:ext cx="17830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</a:rPr>
              <a:t>Vectorised math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2953512" y="3794760"/>
            <a:ext cx="17830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8E5DE"/>
                </a:solidFill>
              </a:rPr>
              <a:t>+ − × ÷ across whole columns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38344" y="2286000"/>
            <a:ext cx="2057400" cy="2377440"/>
          </a:xfrm>
          <a:prstGeom prst="roundRect">
            <a:avLst>
              <a:gd name="adj" fmla="val 4444"/>
            </a:avLst>
          </a:prstGeom>
          <a:solidFill>
            <a:srgbClr val="2D6A4F"/>
          </a:solidFill>
          <a:ln/>
        </p:spPr>
      </p:sp>
      <p:sp>
        <p:nvSpPr>
          <p:cNvPr id="13" name="Text 11"/>
          <p:cNvSpPr/>
          <p:nvPr/>
        </p:nvSpPr>
        <p:spPr>
          <a:xfrm>
            <a:off x="5175504" y="24231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95D5B2"/>
                </a:solidFill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175504" y="3063240"/>
            <a:ext cx="17830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</a:rPr>
              <a:t>Stats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175504" y="3794760"/>
            <a:ext cx="17830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8E5DE"/>
                </a:solidFill>
              </a:rPr>
              <a:t>mean, median, std, percentiles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260336" y="2286000"/>
            <a:ext cx="2057400" cy="2377440"/>
          </a:xfrm>
          <a:prstGeom prst="roundRect">
            <a:avLst>
              <a:gd name="adj" fmla="val 4444"/>
            </a:avLst>
          </a:prstGeom>
          <a:solidFill>
            <a:srgbClr val="1B3A34"/>
          </a:solidFill>
          <a:ln/>
        </p:spPr>
      </p:sp>
      <p:sp>
        <p:nvSpPr>
          <p:cNvPr id="17" name="Text 15"/>
          <p:cNvSpPr/>
          <p:nvPr/>
        </p:nvSpPr>
        <p:spPr>
          <a:xfrm>
            <a:off x="7397496" y="24231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95D5B2"/>
                </a:solidFill>
              </a:rPr>
              <a:t>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397496" y="3063240"/>
            <a:ext cx="17830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</a:rPr>
              <a:t>Outlier concept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7397496" y="3794760"/>
            <a:ext cx="17830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8E5DE"/>
                </a:solidFill>
              </a:rPr>
              <a:t>Z-score &amp; IQR formulas — seen via boxplot, not hand-coded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482328" y="2286000"/>
            <a:ext cx="2057400" cy="2377440"/>
          </a:xfrm>
          <a:prstGeom prst="roundRect">
            <a:avLst>
              <a:gd name="adj" fmla="val 4444"/>
            </a:avLst>
          </a:prstGeom>
          <a:solidFill>
            <a:srgbClr val="2D6A4F"/>
          </a:solidFill>
          <a:ln/>
        </p:spPr>
      </p:sp>
      <p:sp>
        <p:nvSpPr>
          <p:cNvPr id="21" name="Text 19"/>
          <p:cNvSpPr/>
          <p:nvPr/>
        </p:nvSpPr>
        <p:spPr>
          <a:xfrm>
            <a:off x="9619488" y="24231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95D5B2"/>
                </a:solidFill>
              </a:rPr>
              <a:t>5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9619488" y="3063240"/>
            <a:ext cx="17830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</a:rPr>
              <a:t>Correlation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9619488" y="3794760"/>
            <a:ext cx="17830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8E5DE"/>
                </a:solidFill>
              </a:rPr>
              <a:t>np.corrcoef() — reading the matrix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" y="50292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</a:rPr>
              <a:t>Each of these feeds straight into a chart in the Matplotlib half of today's session.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TensorOrbit EDA Bootcamp · Day 2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61288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D6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CONCEPT ONLY — NO MANUAL CODING TODAY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33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Catching outliers before they distort your averages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333B"/>
                </a:solidFill>
              </a:rPr>
              <a:t>One extreme value can badly skew a mean or a trendline. Two common ways to define one mathematically: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5120640" cy="3474720"/>
          </a:xfrm>
          <a:prstGeom prst="roundRect">
            <a:avLst>
              <a:gd name="adj" fmla="val 3158"/>
            </a:avLst>
          </a:prstGeom>
          <a:solidFill>
            <a:srgbClr val="F1F5F3"/>
          </a:solidFill>
          <a:ln w="12700">
            <a:solidFill>
              <a:srgbClr val="D8DED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5146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2D6A4F"/>
                </a:solidFill>
              </a:rPr>
              <a:t>Z-SCORE METHOD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288036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333B"/>
                </a:solidFill>
              </a:rPr>
              <a:t>How many standard deviations a point sits from the mean.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14400" y="3520440"/>
            <a:ext cx="4572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33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 = (x − mean) / std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233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Rule of thumb: |z| &gt; 3 → outlier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309360" y="2286000"/>
            <a:ext cx="5212080" cy="3474720"/>
          </a:xfrm>
          <a:prstGeom prst="roundRect">
            <a:avLst>
              <a:gd name="adj" fmla="val 3158"/>
            </a:avLst>
          </a:prstGeom>
          <a:solidFill>
            <a:srgbClr val="F1F5F3"/>
          </a:solidFill>
          <a:ln w="12700">
            <a:solidFill>
              <a:srgbClr val="D8DED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0" y="25146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2D6A4F"/>
                </a:solidFill>
              </a:rPr>
              <a:t>IQR METHOD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583680" y="2880360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333B"/>
                </a:solidFill>
              </a:rPr>
              <a:t>Based on the middle 50% of the data (Q1 to Q3), not the mean — less thrown off by extreme values itself.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583680" y="3749040"/>
            <a:ext cx="4663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33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IQR = Q3 − Q1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233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Outlier if &lt; Q1−1.5·IQR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233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or &gt; Q3+1.5·IQR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59436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7280"/>
                </a:solidFill>
              </a:rPr>
              <a:t>We won't hand-code these formulas today — in a few minutes, a boxplot will show these same outliers visually, which is clearer for everyone in the room.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TensorOrbit EDA Bootcamp · Day 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61288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33BB9EA-D319-4C4A-845B-7F3D235F8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1025" y="0"/>
            <a:ext cx="88499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14360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3A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95D5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CONCEPT ONLY — NO CODE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Correlation vs. causation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011680"/>
            <a:ext cx="10515600" cy="1188720"/>
          </a:xfrm>
          <a:prstGeom prst="roundRect">
            <a:avLst>
              <a:gd name="adj" fmla="val 9231"/>
            </a:avLst>
          </a:prstGeom>
          <a:solidFill>
            <a:srgbClr val="24473F"/>
          </a:solidFill>
          <a:ln/>
        </p:spPr>
      </p:sp>
      <p:sp>
        <p:nvSpPr>
          <p:cNvPr id="5" name="Text 3"/>
          <p:cNvSpPr/>
          <p:nvPr/>
        </p:nvSpPr>
        <p:spPr>
          <a:xfrm>
            <a:off x="1188720" y="2194560"/>
            <a:ext cx="9784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FFFFF"/>
                </a:solidFill>
              </a:rPr>
              <a:t>"Cities with more renewable energy also have less CO2 — does renewable energy CAUSE that, or could both be driven by something else, like wealth or policy?"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36576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5D5B2"/>
                </a:solidFill>
              </a:rPr>
              <a:t>Correlation: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43200" y="3657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8E5DE"/>
                </a:solidFill>
              </a:rPr>
              <a:t>two variables move together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41148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5D5B2"/>
                </a:solidFill>
              </a:rPr>
              <a:t>Causation: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743200" y="4114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8E5DE"/>
                </a:solidFill>
              </a:rPr>
              <a:t>one variable directly produces the change in another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48463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76F51"/>
                </a:solidFill>
              </a:rPr>
              <a:t>np.corrcoef() only ever tells you the first one.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TensorOrbit EDA Bootcamp · Day 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61288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D6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TRANSITION TO MATPLOTLIB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33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visualise what we just calculated?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3291840" cy="3291840"/>
          </a:xfrm>
          <a:prstGeom prst="roundRect">
            <a:avLst>
              <a:gd name="adj" fmla="val 3333"/>
            </a:avLst>
          </a:prstGeom>
          <a:solidFill>
            <a:srgbClr val="F1F5F3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2286000"/>
            <a:ext cx="28346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2333B"/>
                </a:solidFill>
              </a:rPr>
              <a:t>A mean.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2333B"/>
                </a:solidFill>
              </a:rPr>
              <a:t>An outlier list.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2333B"/>
                </a:solidFill>
              </a:rPr>
              <a:t>A correlation number.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3931920"/>
            <a:ext cx="2834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</a:rPr>
              <a:t>None of it lands with</a:t>
            </a:r>
            <a:endParaRPr lang="en-US" sz="1300" dirty="0"/>
          </a:p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</a:rPr>
              <a:t>an audience the way</a:t>
            </a:r>
            <a:endParaRPr lang="en-US" sz="1300" dirty="0"/>
          </a:p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</a:rPr>
              <a:t>a picture does.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0" y="32918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D6A4F"/>
                </a:solidFill>
              </a:rPr>
              <a:t>→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5029200" y="1920240"/>
            <a:ext cx="6309360" cy="3291840"/>
          </a:xfrm>
          <a:prstGeom prst="roundRect">
            <a:avLst>
              <a:gd name="adj" fmla="val 3333"/>
            </a:avLst>
          </a:prstGeom>
          <a:solidFill>
            <a:srgbClr val="2D6A4F"/>
          </a:solidFill>
          <a:ln/>
        </p:spPr>
      </p:sp>
      <p:sp>
        <p:nvSpPr>
          <p:cNvPr id="9" name="Text 7"/>
          <p:cNvSpPr/>
          <p:nvPr/>
        </p:nvSpPr>
        <p:spPr>
          <a:xfrm>
            <a:off x="5303520" y="219456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A chart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303520" y="2743200"/>
            <a:ext cx="5760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AF3EE"/>
                </a:solidFill>
              </a:rPr>
              <a:t>Tells the story in 5 seconds. This is exactly the skill Day 4's presentations will demand.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TensorOrbit EDA Bootcamp · Day 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61288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D6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REFERENCE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33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Which chart for which question?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457200"/>
          </a:xfrm>
          <a:prstGeom prst="rect">
            <a:avLst/>
          </a:prstGeom>
          <a:solidFill>
            <a:srgbClr val="1B3A34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002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5D5B2"/>
                </a:solidFill>
              </a:rPr>
              <a:t>CHART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560320" y="160020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5D5B2"/>
                </a:solidFill>
              </a:rPr>
              <a:t>USE WHEN...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498080" y="16002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5D5B2"/>
                </a:solidFill>
              </a:rPr>
              <a:t>TODAY'S EXAMPLE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057400"/>
            <a:ext cx="10881360" cy="749808"/>
          </a:xfrm>
          <a:prstGeom prst="rect">
            <a:avLst/>
          </a:prstGeom>
          <a:solidFill>
            <a:srgbClr val="F1F5F3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057400"/>
            <a:ext cx="1645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6A4F"/>
                </a:solidFill>
              </a:rPr>
              <a:t>Line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560320" y="2057400"/>
            <a:ext cx="48463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333B"/>
                </a:solidFill>
              </a:rPr>
              <a:t>How does X change over time?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498080" y="2057400"/>
            <a:ext cx="3931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</a:rPr>
              <a:t>Yearly avg. CO2 over 2019–2023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2807208"/>
            <a:ext cx="1645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6A4F"/>
                </a:solidFill>
              </a:rPr>
              <a:t>Bar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560320" y="2807208"/>
            <a:ext cx="48463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333B"/>
                </a:solidFill>
              </a:rPr>
              <a:t>How do categories compare?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498080" y="2807208"/>
            <a:ext cx="3931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</a:rPr>
              <a:t>Top 10 cities by renewable %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3557016"/>
            <a:ext cx="10881360" cy="749808"/>
          </a:xfrm>
          <a:prstGeom prst="rect">
            <a:avLst/>
          </a:prstGeom>
          <a:solidFill>
            <a:srgbClr val="F1F5F3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557016"/>
            <a:ext cx="1645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6A4F"/>
                </a:solidFill>
              </a:rPr>
              <a:t>Histogram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560320" y="3557016"/>
            <a:ext cx="48463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333B"/>
                </a:solidFill>
              </a:rPr>
              <a:t>What's the shape of one variable's distribution?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498080" y="3557016"/>
            <a:ext cx="3931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</a:rPr>
              <a:t>Spread of CO2 values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2960" y="4306824"/>
            <a:ext cx="1645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6A4F"/>
                </a:solidFill>
              </a:rPr>
              <a:t>Scatter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560320" y="4306824"/>
            <a:ext cx="48463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333B"/>
                </a:solidFill>
              </a:rPr>
              <a:t>Is there a relationship between two variables?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498080" y="4306824"/>
            <a:ext cx="3931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</a:rPr>
              <a:t>Renewable % vs CO2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0080" y="5056632"/>
            <a:ext cx="10881360" cy="749808"/>
          </a:xfrm>
          <a:prstGeom prst="rect">
            <a:avLst/>
          </a:prstGeom>
          <a:solidFill>
            <a:srgbClr val="F1F5F3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5056632"/>
            <a:ext cx="1645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6A4F"/>
                </a:solidFill>
              </a:rPr>
              <a:t>Boxplot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560320" y="5056632"/>
            <a:ext cx="48463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333B"/>
                </a:solidFill>
              </a:rPr>
              <a:t>Where's the spread, and are there outliers?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498080" y="5056632"/>
            <a:ext cx="3931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</a:rPr>
              <a:t>CO2 outliers, visually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22960" y="5806440"/>
            <a:ext cx="1645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6A4F"/>
                </a:solidFill>
              </a:rPr>
              <a:t>Pie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2560320" y="5806440"/>
            <a:ext cx="48463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333B"/>
                </a:solidFill>
              </a:rPr>
              <a:t>What's each part's share of a whole? (3–6 categories max)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498080" y="5806440"/>
            <a:ext cx="3931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</a:rPr>
              <a:t>Record share by top 5 countries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TensorOrbit EDA Bootcamp · Day 2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61288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D6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LITTLE EXTRA POLISH GOES A LONG WAY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33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Making charts clearer: color and annotation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120640" cy="3840480"/>
          </a:xfrm>
          <a:prstGeom prst="roundRect">
            <a:avLst>
              <a:gd name="adj" fmla="val 2857"/>
            </a:avLst>
          </a:prstGeom>
          <a:solidFill>
            <a:srgbClr val="F1F5F3"/>
          </a:solidFill>
          <a:ln w="12700">
            <a:solidFill>
              <a:srgbClr val="D8DED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0574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2D6A4F"/>
                </a:solidFill>
              </a:rPr>
              <a:t>COLOR CAN CARRY MEANING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2514600"/>
            <a:ext cx="46634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333B"/>
                </a:solidFill>
              </a:rPr>
              <a:t>Instead of one flat color for every bar, color bars differently based on a condition — e.g. green for cities above 50% renewable energy, light green for the rest. The color itself now tells part of the story.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309360" y="1828800"/>
            <a:ext cx="5212080" cy="3840480"/>
          </a:xfrm>
          <a:prstGeom prst="roundRect">
            <a:avLst>
              <a:gd name="adj" fmla="val 2857"/>
            </a:avLst>
          </a:prstGeom>
          <a:solidFill>
            <a:srgbClr val="F1F5F3"/>
          </a:solidFill>
          <a:ln w="12700">
            <a:solidFill>
              <a:srgbClr val="D8DED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0" y="20574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2D6A4F"/>
                </a:solidFill>
              </a:rPr>
              <a:t>LABEL THE DATA DIRECTLY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83680" y="2514600"/>
            <a:ext cx="46634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333B"/>
                </a:solidFill>
              </a:rPr>
              <a:t>Adding the exact value above each bar (an annotation) means the audience doesn't have to squint at the axis to read the numbers. Small addition, big clarity gain — especially useful for Day 4 presentations.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58521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7280"/>
                </a:solidFill>
              </a:rPr>
              <a:t>Also worth mentioning: putting two lines on one chart with a legend (renewable % vs recycling % over time) lets the audience compare two stories at once, instead of flipping between two separate charts.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TensorOrbit EDA Bootcamp · Day 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61288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3A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95D5B2"/>
                </a:solidFill>
              </a:rPr>
              <a:t>GUIDED PRACTICE · ~25-30 MIN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Turn your own findings into charts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2D6A4F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202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737360" y="187452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AF3EE"/>
                </a:solidFill>
              </a:rPr>
              <a:t>Which city had the highest average water usage per capita across all years? Show it.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315468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2D6A4F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1546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737360" y="310896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AF3EE"/>
                </a:solidFill>
              </a:rPr>
              <a:t>Is there a relationship between green space % and recycling rate %? Show it.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22960" y="438912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2D6A4F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4389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737360" y="434340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AF3EE"/>
                </a:solidFill>
              </a:rPr>
              <a:t>How has the average recycling rate changed year over year? Show it.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2960" y="58521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5D5B2"/>
                </a:solidFill>
              </a:rPr>
              <a:t>Every chart needs: a title, axis labels, and a legend if it shows more than one series.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TensorOrbit EDA Bootcamp · Day 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61288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D6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WRAP-UP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33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you can do now — and what's next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120640" cy="3566160"/>
          </a:xfrm>
          <a:prstGeom prst="roundRect">
            <a:avLst>
              <a:gd name="adj" fmla="val 3077"/>
            </a:avLst>
          </a:prstGeom>
          <a:solidFill>
            <a:srgbClr val="F1F5F3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1488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D6A4F"/>
                </a:solidFill>
              </a:rPr>
              <a:t>TODAY YOU CAN...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2560320"/>
            <a:ext cx="45720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22333B"/>
                </a:solidFill>
              </a:rPr>
              <a:t>•  Work with arrays instead of loops</a:t>
            </a:r>
            <a:endParaRPr lang="en-US" sz="14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22333B"/>
                </a:solidFill>
              </a:rPr>
              <a:t>•  Calculate stats and percentiles</a:t>
            </a:r>
            <a:endParaRPr lang="en-US" sz="14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22333B"/>
                </a:solidFill>
              </a:rPr>
              <a:t>•  Read a correlation matrix</a:t>
            </a:r>
            <a:endParaRPr lang="en-US" sz="14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22333B"/>
                </a:solidFill>
              </a:rPr>
              <a:t>•  Build 6 chart types, with color and labels</a:t>
            </a:r>
            <a:endParaRPr lang="en-US" sz="14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22333B"/>
                </a:solidFill>
              </a:rPr>
              <a:t>•  Combine charts with subplots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309360" y="1920240"/>
            <a:ext cx="5212080" cy="3566160"/>
          </a:xfrm>
          <a:prstGeom prst="roundRect">
            <a:avLst>
              <a:gd name="adj" fmla="val 3077"/>
            </a:avLst>
          </a:prstGeom>
          <a:solidFill>
            <a:srgbClr val="2D6A4F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0" y="21488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95D5B2"/>
                </a:solidFill>
              </a:rPr>
              <a:t>DAY 3 PREVIEW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83680" y="2560320"/>
            <a:ext cx="46634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AF3EE"/>
                </a:solidFill>
              </a:rPr>
              <a:t>Combine Pandas + NumPy + Matplotlib into one full workflow, on a new business dataset — then your capstone brief.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TensorOrbit EDA Bootcamp · Day 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61288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238</TotalTime>
  <Words>991</Words>
  <Application>Microsoft Office PowerPoint</Application>
  <PresentationFormat>Widescreen</PresentationFormat>
  <Paragraphs>164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Courier New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Hassana Sarafath</cp:lastModifiedBy>
  <cp:revision>2</cp:revision>
  <dcterms:created xsi:type="dcterms:W3CDTF">2026-08-21T14:19:13Z</dcterms:created>
  <dcterms:modified xsi:type="dcterms:W3CDTF">2026-08-22T06:48:52Z</dcterms:modified>
</cp:coreProperties>
</file>